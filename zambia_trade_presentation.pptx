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54864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108960" cy="34747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AGRICULTURE TRADE ANALYSIS  2013 –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Zambia's Trade Story: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E85D04"/>
                </a:solidFill>
                <a:latin typeface="Calibri"/>
              </a:rPr>
              <a:t>K33 Billion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0E0E0"/>
                </a:solidFill>
                <a:latin typeface="Calibri"/>
              </a:rPr>
              <a:t>How Currency Volatility is Amplifying the Agriculture
Import-Export Deficit (2013–2022)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4572000" cy="36576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445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8B8"/>
                </a:solidFill>
                <a:latin typeface="Calibri"/>
              </a:rPr>
              <a:t>FSIO Cohort  |  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10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0A8B8"/>
                </a:solidFill>
                <a:latin typeface="Calibri"/>
              </a:rPr>
              <a:t>CUMULATIVE DEFICIT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C1121F"/>
                </a:solidFill>
                <a:latin typeface="Calibri"/>
              </a:rPr>
              <a:t>-K33.4bn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246120"/>
            <a:ext cx="2926080" cy="2743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383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0A8B8"/>
                </a:solidFill>
                <a:latin typeface="Calibri"/>
              </a:rPr>
              <a:t>TOTAL IMPORTS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118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5D04"/>
                </a:solidFill>
                <a:latin typeface="Calibri"/>
              </a:rPr>
              <a:t>K110.04bn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0A8B8"/>
                </a:solidFill>
                <a:latin typeface="Calibri"/>
              </a:rPr>
              <a:t>TOTAL EXPORTS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5262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D6FA4"/>
                </a:solidFill>
                <a:latin typeface="Calibri"/>
              </a:rPr>
              <a:t>K76.65bn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8B8"/>
                </a:solidFill>
                <a:latin typeface="Calibri"/>
              </a:rPr>
              <a:t>A Storytelling with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Zambia Flipped from Surplus to Structural Deficit in Under a Decade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D6FA4"/>
                </a:solidFill>
                <a:latin typeface="Calibri"/>
              </a:rPr>
              <a:t>THE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In 2013, Zambia exported MORE than it imported.</a:t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/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By 2022, the annual trade deficit reached K9.3 billion —</a:t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part of a cumulative K33.4 billion shortfall over the decade.</a:t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/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This is not a temporary shock. It is a structural shift</a:t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driven by currency depreciation, import dependency,</a:t>
            </a:r>
          </a:p>
          <a:p>
            <a:pPr algn="l">
              <a:lnSpc>
                <a:spcPct val="114999"/>
              </a:lnSpc>
            </a:pPr>
            <a:r>
              <a:rPr sz="1550" b="0">
                <a:solidFill>
                  <a:srgbClr val="E0E0E0"/>
                </a:solidFill>
                <a:latin typeface="Calibri"/>
              </a:rPr>
              <a:t>and low-value commodity exports.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4892040"/>
            <a:ext cx="242316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956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8B8"/>
                </a:solidFill>
                <a:latin typeface="Calibri"/>
              </a:rPr>
              <a:t>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2303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C653"/>
                </a:solidFill>
                <a:latin typeface="Calibri"/>
              </a:rPr>
              <a:t>+K1.23bn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742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8B8"/>
                </a:solidFill>
                <a:latin typeface="Calibri"/>
              </a:rPr>
              <a:t>TRADE SURPLUS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4892040"/>
            <a:ext cx="242316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4956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8B8"/>
                </a:solidFill>
                <a:latin typeface="Calibri"/>
              </a:rPr>
              <a:t>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52303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1121F"/>
                </a:solidFill>
                <a:latin typeface="Calibri"/>
              </a:rPr>
              <a:t>-K9.27bn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57424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8B8"/>
                </a:solidFill>
                <a:latin typeface="Calibri"/>
              </a:rPr>
              <a:t>TRADE DEFICIT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5349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1121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280160"/>
            <a:ext cx="5943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173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0A8B8"/>
                </a:solidFill>
                <a:latin typeface="Calibri"/>
              </a:rPr>
              <a:t>10-YEAR SCORECARD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783080"/>
            <a:ext cx="5394960" cy="1280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8288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TOTAL IMPORTS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84831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K110.04 billion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154680"/>
            <a:ext cx="5394960" cy="128016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2004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TOTAL EXPORTS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45643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K76.65 billion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526280"/>
            <a:ext cx="5394960" cy="9144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55371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CUMULATIVE DEFICIT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7731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-K33.39 billion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Data: Zambia Agriculture Import-Export Dashboard 2013–2022  |  FSIO Cohort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Imports Grew 428%. Exports Grew 138%. The Gap Tells the 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11430000" cy="4846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716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ZMW (billions)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03673"/>
            <a:ext cx="10744200" cy="9144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893945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8B8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36897"/>
            <a:ext cx="10744200" cy="9144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4027169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8B8"/>
                </a:solidFill>
                <a:latin typeface="Calibr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70123"/>
            <a:ext cx="10744200" cy="9144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160395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8B8"/>
                </a:solidFill>
                <a:latin typeface="Calibri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03348"/>
            <a:ext cx="10744200" cy="9144"/>
          </a:xfrm>
          <a:prstGeom prst="rect">
            <a:avLst/>
          </a:prstGeom>
          <a:solidFill>
            <a:srgbClr val="2A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936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A8B8"/>
                </a:solidFill>
                <a:latin typeface="Calibri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5707" y="5140623"/>
            <a:ext cx="406542" cy="729824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37837" y="4927396"/>
            <a:ext cx="406542" cy="943051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2436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15555" y="5069547"/>
            <a:ext cx="406542" cy="8009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7685" y="5050478"/>
            <a:ext cx="406542" cy="819969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72284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5403" y="4651762"/>
            <a:ext cx="406542" cy="1218685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77533" y="4845919"/>
            <a:ext cx="406542" cy="10245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2132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5251" y="4606690"/>
            <a:ext cx="406542" cy="1263757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47381" y="4790446"/>
            <a:ext cx="406542" cy="1080001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1980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5099" y="4235710"/>
            <a:ext cx="406542" cy="1634737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17229" y="4946465"/>
            <a:ext cx="406542" cy="92398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1828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94947" y="4268647"/>
            <a:ext cx="406542" cy="16018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87077" y="4901393"/>
            <a:ext cx="406542" cy="969054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1676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64795" y="4067556"/>
            <a:ext cx="406542" cy="18028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6925" y="4728038"/>
            <a:ext cx="406542" cy="1142409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1524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34643" y="3190379"/>
            <a:ext cx="406542" cy="268006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26773" y="4188904"/>
            <a:ext cx="406542" cy="1681543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91372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4491" y="2380811"/>
            <a:ext cx="406542" cy="348963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96621" y="3414007"/>
            <a:ext cx="406542" cy="245644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61220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2021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74339" y="2018499"/>
            <a:ext cx="406542" cy="385194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166469" y="3625500"/>
            <a:ext cx="406542" cy="2244947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31068" y="5907024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DC653"/>
                </a:solidFill>
                <a:latin typeface="Calibri"/>
              </a:rPr>
              <a:t>2013: Surplus
(Exports &gt; Imports)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160020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D04"/>
                </a:solidFill>
                <a:latin typeface="Calibri"/>
              </a:rPr>
              <a:t>2015–17:
Deficit
began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1463040"/>
            <a:ext cx="1554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5D04"/>
                </a:solidFill>
                <a:latin typeface="Calibri"/>
              </a:rPr>
              <a:t>2020–21:
COVID-era
acceleration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6291072"/>
            <a:ext cx="201168" cy="20116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98864" y="62819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  <a:latin typeface="Calibri"/>
              </a:rPr>
              <a:t>Imports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41280" y="6291072"/>
            <a:ext cx="201168" cy="20116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79024" y="62819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  <a:latin typeface="Calibri"/>
              </a:rPr>
              <a:t>Exports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3093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A261"/>
                </a:solidFill>
                <a:latin typeface="Calibri"/>
              </a:rPr>
              <a:t>Import CAGR ~18%  vs  Export CAGR ~10%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Data: Zambia Agriculture Import-Export Dashboard 2013–2022  |  FSIO Cohort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Numbers Lie: Currency Depreciation is Inflating Both Sides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A261"/>
                </a:solidFill>
                <a:latin typeface="Calibri"/>
              </a:rPr>
              <a:t>THE TWIST — CURRENCY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64208"/>
            <a:ext cx="539496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556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8B8"/>
                </a:solidFill>
                <a:latin typeface="Calibri"/>
              </a:rPr>
              <a:t>ZMW / USD EXCHANGE RATE TRAJECTORY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402336" cy="5029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" y="2148840"/>
            <a:ext cx="704088" cy="50292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63624" y="2148840"/>
            <a:ext cx="1005839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9464" y="2148840"/>
            <a:ext cx="1156716" cy="50292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26180" y="2148840"/>
            <a:ext cx="1760220" cy="50292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9806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89280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~5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48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1920" y="279806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1920" y="189280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~8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24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9520" y="279806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9520" y="189280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~9.5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00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27120" y="279806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7120" y="189280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~12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88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85920" y="279806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5920" y="189280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~21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2651760"/>
            <a:ext cx="18288" cy="13716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279806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0A8B8"/>
                </a:solidFill>
                <a:latin typeface="Calibri"/>
              </a:rPr>
              <a:t>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1892808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~17-21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7373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A8B8"/>
                </a:solidFill>
                <a:latin typeface="Calibri"/>
              </a:rPr>
              <a:t>ZMW per USD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82112"/>
            <a:ext cx="1700784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182112"/>
            <a:ext cx="1700784" cy="25603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209544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IMPORT INFLATION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" y="3502152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  <a:latin typeface="Calibri"/>
              </a:rPr>
              <a:t>K4.2bn (2013) → K22.2bn (2022)
Same USD volume, 4× the ZMW cost
due to ~75% Kwacha depreciation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66544" y="3182112"/>
            <a:ext cx="1700784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66544" y="3182112"/>
            <a:ext cx="1700784" cy="25603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12264" y="3209544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EXPORT ILLUSION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0552" y="3502152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  <a:latin typeface="Calibri"/>
              </a:rPr>
              <a:t>Tobacco/maize volumes barely grew.
ZMW gains are translation effects,
not real volume expansion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58768" y="3182112"/>
            <a:ext cx="1700784" cy="1572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58768" y="3182112"/>
            <a:ext cx="1700784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04488" y="3209544"/>
            <a:ext cx="16093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THE REALITY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22776" y="3502152"/>
            <a:ext cx="157276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  <a:latin typeface="Calibri"/>
              </a:rPr>
              <a:t>"Nominal growth is NOT real growth
when your currency has lost
75% of its value"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1298448"/>
            <a:ext cx="5943600" cy="5212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1417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8B8"/>
                </a:solidFill>
                <a:latin typeface="Calibri"/>
              </a:rPr>
              <a:t>IMPORT COST REALITY CHECK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DC653"/>
                </a:solidFill>
                <a:latin typeface="Calibri"/>
              </a:rPr>
              <a:t>K4.2bn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2487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2013 imports at ~5 ZMW/USD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A261"/>
                </a:solidFill>
                <a:latin typeface="Calibri"/>
              </a:rPr>
              <a:t>≈ same USD volume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321868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1121F"/>
                </a:solidFill>
                <a:latin typeface="Calibri"/>
              </a:rPr>
              <a:t>K22.2bn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39136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  <a:latin typeface="Calibri"/>
              </a:rPr>
              <a:t>2022 imports at ~17–21 ZMW/USD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315968"/>
            <a:ext cx="5394960" cy="27432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4434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85D04"/>
                </a:solidFill>
                <a:latin typeface="Calibri"/>
              </a:rPr>
              <a:t>428% more Kwacha
for the same goods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525780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  <a:latin typeface="Calibri"/>
              </a:rPr>
              <a:t>ZMW weakened from ~5/USD (2013)
to ~17–21/USD (2020–22) — a 75%+ decline.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Data: Zambia Agriculture Import-Export Dashboard 2013–2022  |  FSIO Cohort Analysis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Urea Dependency: Zambia Pays More Each Year to Grow the Same Crops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984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8B8"/>
                </a:solidFill>
                <a:latin typeface="Calibri"/>
              </a:rPr>
              <a:t>TOP IMPORTED PRODUCTS (Relative Volume)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664208"/>
            <a:ext cx="5029200" cy="26517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Urea (Fertilizer)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4888" y="1673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011680"/>
            <a:ext cx="3118104" cy="265176"/>
          </a:xfrm>
          <a:prstGeom prst="rect">
            <a:avLst/>
          </a:prstGeom>
          <a:solidFill>
            <a:srgbClr val="F0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0391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Mineral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20208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59152"/>
            <a:ext cx="2061971" cy="265176"/>
          </a:xfrm>
          <a:prstGeom prst="rect">
            <a:avLst/>
          </a:prstGeom>
          <a:solidFill>
            <a:srgbClr val="D4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865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Frozen Goods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7660" y="23682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41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706624"/>
            <a:ext cx="1810512" cy="265176"/>
          </a:xfrm>
          <a:prstGeom prst="rect">
            <a:avLst/>
          </a:prstGeom>
          <a:solidFill>
            <a:srgbClr val="B85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7340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Mineral Products-2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7157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054096"/>
            <a:ext cx="1408176" cy="265176"/>
          </a:xfrm>
          <a:prstGeom prst="rect">
            <a:avLst/>
          </a:prstGeom>
          <a:solidFill>
            <a:srgbClr val="A04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08152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Ammonia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401568"/>
            <a:ext cx="1106424" cy="265176"/>
          </a:xfrm>
          <a:prstGeom prst="rect">
            <a:avLst/>
          </a:prstGeom>
          <a:solidFill>
            <a:srgbClr val="8A3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429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Other Foods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3410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749040"/>
            <a:ext cx="955548" cy="26517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7764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Crude Petroleum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1236" y="37581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19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4096512"/>
            <a:ext cx="704088" cy="265176"/>
          </a:xfrm>
          <a:prstGeom prst="rect">
            <a:avLst/>
          </a:prstGeom>
          <a:solidFill>
            <a:srgbClr val="F07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1239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Crude Soybean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9776" y="4105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4443984"/>
            <a:ext cx="502920" cy="265176"/>
          </a:xfrm>
          <a:prstGeom prst="rect">
            <a:avLst/>
          </a:prstGeom>
          <a:solidFill>
            <a:srgbClr val="D46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47141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Palm Oil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4453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791456"/>
            <a:ext cx="402336" cy="265176"/>
          </a:xfrm>
          <a:prstGeom prst="rect">
            <a:avLst/>
          </a:prstGeom>
          <a:solidFill>
            <a:srgbClr val="B85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81888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Ammonia-2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8024" y="4800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170078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1298448"/>
            <a:ext cx="5394960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5D04"/>
                </a:solidFill>
                <a:latin typeface="Calibri"/>
              </a:rPr>
              <a:t>THE FERTILIZER TRAP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1828800"/>
            <a:ext cx="1554480" cy="4572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18928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ZMW falls vs USD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9208" y="228600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66760" y="2423160"/>
            <a:ext cx="1554480" cy="457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24871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Urea costs MORE in ZMW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0848" y="288036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3017520"/>
            <a:ext cx="155448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30815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Farmers cut usage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9208" y="347472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3611880"/>
            <a:ext cx="1554480" cy="4572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6758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Lower crop yields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406908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4206240"/>
            <a:ext cx="1554480" cy="457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42702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Less export revenue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79208" y="4663440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0A8B8"/>
                </a:solidFill>
                <a:latin typeface="Calibri"/>
              </a:rPr>
              <a:t>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60" y="4800600"/>
            <a:ext cx="1554480" cy="4572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48646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More ZMW pressure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1121F"/>
                </a:solidFill>
                <a:latin typeface="Calibri"/>
              </a:rPr>
              <a:t>⟳  Self-reinforcing loop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5321808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  <a:latin typeface="Calibri"/>
              </a:rPr>
              <a:t>"The import basket is dominated by inputs
Zambia cannot produce domestically."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Data: Zambia Agriculture Import-Export Dashboard 2013–2022  |  FSIO Cohort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Raw Commodity Exports: High Volume, Low Value-Add, Capped Upside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9844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A8B8"/>
                </a:solidFill>
                <a:latin typeface="Calibri"/>
              </a:rPr>
              <a:t>TOP EXPORTED PRODUCTS (Relative Volume)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664208"/>
            <a:ext cx="5029200" cy="265176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Tobacco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4888" y="16733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011680"/>
            <a:ext cx="2916936" cy="265176"/>
          </a:xfrm>
          <a:prstGeom prst="rect">
            <a:avLst/>
          </a:prstGeom>
          <a:solidFill>
            <a:srgbClr val="2A8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03911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Other 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20208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359152"/>
            <a:ext cx="2112264" cy="265176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865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Oil Cake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36829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706624"/>
            <a:ext cx="1911096" cy="265176"/>
          </a:xfrm>
          <a:prstGeom prst="rect">
            <a:avLst/>
          </a:prstGeom>
          <a:solidFill>
            <a:srgbClr val="165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73405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Maize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4" y="27157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38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054096"/>
            <a:ext cx="1508760" cy="265176"/>
          </a:xfrm>
          <a:prstGeom prst="rect">
            <a:avLst/>
          </a:prstGeom>
          <a:solidFill>
            <a:srgbClr val="1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08152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Cotton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401568"/>
            <a:ext cx="1106424" cy="265176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429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Tobacco-2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2112" y="3410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749040"/>
            <a:ext cx="754380" cy="265176"/>
          </a:xfrm>
          <a:prstGeom prst="rect">
            <a:avLst/>
          </a:prstGeom>
          <a:solidFill>
            <a:srgbClr val="2A8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7764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Sweet 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0068" y="375818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4096512"/>
            <a:ext cx="553212" cy="265176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12394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Maize Seeds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8900" y="41056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0" y="4443984"/>
            <a:ext cx="402336" cy="265176"/>
          </a:xfrm>
          <a:prstGeom prst="rect">
            <a:avLst/>
          </a:prstGeom>
          <a:solidFill>
            <a:srgbClr val="165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4471416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Raw Ca.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78024" y="4453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4791456"/>
            <a:ext cx="251460" cy="265176"/>
          </a:xfrm>
          <a:prstGeom prst="rect">
            <a:avLst/>
          </a:prstGeom>
          <a:solidFill>
            <a:srgbClr val="104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818888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0E0E0"/>
                </a:solidFill>
                <a:latin typeface="Calibri"/>
              </a:rPr>
              <a:t>Cane 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7148" y="4800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298448"/>
            <a:ext cx="5394960" cy="5166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6FA4"/>
                </a:solidFill>
                <a:latin typeface="Calibri"/>
              </a:rPr>
              <a:t>WHY EXPORTS HAVE A CEILING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1828800"/>
            <a:ext cx="54864" cy="1261872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18562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D6FA4"/>
                </a:solidFill>
                <a:latin typeface="Calibri"/>
              </a:rPr>
              <a:t>PRICE TAKER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157984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Tobacco, maize, cotton are globally
priced commodities. Zambia has no
leverage on the USD price.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3401568"/>
            <a:ext cx="54864" cy="12618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A261"/>
                </a:solidFill>
                <a:latin typeface="Calibri"/>
              </a:rPr>
              <a:t>2021 PEAK → 2022 DIP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73075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Exports hit K14.2bn (2021) but
FELL to K12.9bn (2022) — first sign
that currency tailwind can reverse.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4974336"/>
            <a:ext cx="54864" cy="126187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80" y="50017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1121F"/>
                </a:solidFill>
                <a:latin typeface="Calibri"/>
              </a:rPr>
              <a:t>STRUCTURAL CAP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53035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Without processing raw commodities
locally, export revenue upside is
limited regardless of volume.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5321808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4A261"/>
                </a:solidFill>
                <a:latin typeface="Calibri"/>
              </a:rPr>
              <a:t>"When commodity prices fall, export revenue falls —
no matter what the Kwacha does."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6327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1121F"/>
                </a:solidFill>
                <a:latin typeface="Calibri"/>
              </a:rPr>
              <a:t>2021: K14.17bn  →  2022: K12.95bn  (-K1.22bn)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Data: Zambia Agriculture Import-Export Dashboard 2013–2022  |  FSIO Cohort 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Deficit Loop: How Trade Imbalance Deepens Currency Weakness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0A8B8"/>
                </a:solidFill>
                <a:latin typeface="Calibri"/>
              </a:rPr>
              <a:t>THE SELF-REINFORCING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011680" cy="1234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Trade
Deficit
Grows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A8B8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011680"/>
            <a:ext cx="2011680" cy="12344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Less USD
Inflow to
Zambia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A8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011680"/>
            <a:ext cx="2011680" cy="12344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ZMW
Depreciates
Further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A8B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011680"/>
            <a:ext cx="2011680" cy="12344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Imports Cost
More in
ZMW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A8B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011680"/>
            <a:ext cx="2011680" cy="1234440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214884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Deficit
Widens
Again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015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1121F"/>
                </a:solidFill>
                <a:latin typeface="Calibri"/>
              </a:rPr>
              <a:t>⟲  This loop repeated every year from 2015 to 2022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11430000" cy="274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931920"/>
            <a:ext cx="2697480" cy="2542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2697480" cy="25603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39593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2013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" y="4251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C653"/>
                </a:solidFill>
                <a:latin typeface="Calibri"/>
              </a:rPr>
              <a:t>SURPLUS
+K1.2bn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" y="49377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Exports &gt; Imports.
Surplus provides USD buffer.
ZMW relatively stable.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3931920"/>
            <a:ext cx="2697480" cy="2542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54680" y="3931920"/>
            <a:ext cx="2697480" cy="25603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9544" y="39593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9544" y="4251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5D04"/>
                </a:solidFill>
                <a:latin typeface="Calibri"/>
              </a:rPr>
              <a:t>DEFICIT
-K4.1bn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9544" y="49377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First sustained deficit year.
Urea imports surge.
ZMW starts weakening.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931920"/>
            <a:ext cx="2697480" cy="2542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3931920"/>
            <a:ext cx="2697480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9904" y="39593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2020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9904" y="4251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1121F"/>
                </a:solidFill>
                <a:latin typeface="Calibri"/>
              </a:rPr>
              <a:t>DEFICIT
-K5.8bn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9904" y="49377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COVID shock. ZMW hits
~21/USD. Import costs
explode in ZMW terms.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3931920"/>
            <a:ext cx="2697480" cy="254203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15400" y="3931920"/>
            <a:ext cx="2697480" cy="256032"/>
          </a:xfrm>
          <a:prstGeom prst="rect">
            <a:avLst/>
          </a:prstGeom>
          <a:solidFill>
            <a:srgbClr val="C1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0264" y="39593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0264" y="42519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1121F"/>
                </a:solidFill>
                <a:latin typeface="Calibri"/>
              </a:rPr>
              <a:t>DEFICIT
-K9.3bn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0264" y="49377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Exports FELL despite
rising ZMW weakness.
Loop is accelerating.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1052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4A261"/>
                </a:solidFill>
                <a:latin typeface="Calibri"/>
              </a:rPr>
              <a:t>"Without intervention, this is a self-reinforcing cycle."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53796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8B8"/>
                </a:solidFill>
                <a:latin typeface="Calibri"/>
              </a:rPr>
              <a:t>Data: Zambia Agriculture Import-Export Dashboard 2013–2022  |  FSIO Cohort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88952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017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Priorities to Break the Deficit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98448"/>
            <a:ext cx="1161288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1">
                <a:solidFill>
                  <a:srgbClr val="F4A261"/>
                </a:solidFill>
                <a:latin typeface="Calibri"/>
              </a:rPr>
              <a:t>The K33bn deficit is a structural warning. Currency management alone cannot fix what requires industrial diversification.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93392"/>
            <a:ext cx="3749039" cy="4005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993392"/>
            <a:ext cx="3749039" cy="914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157984"/>
            <a:ext cx="411480" cy="4114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76272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D04"/>
                </a:solidFill>
                <a:latin typeface="Calibri"/>
              </a:rPr>
              <a:t>Reduce Urea
Dependency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62072"/>
            <a:ext cx="3474719" cy="1828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3090672"/>
            <a:ext cx="109728" cy="10972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999232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Invest in domestic fertilizer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3749040"/>
            <a:ext cx="109728" cy="10972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57600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Explore regional procurement in ZMW or barter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4407408"/>
            <a:ext cx="109728" cy="10972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315968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Subsidize alternative/organic inputs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5065776"/>
            <a:ext cx="109728" cy="109728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974336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Reduce exposure to USD-priced inputs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19" y="1993392"/>
            <a:ext cx="3749039" cy="4005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19" y="1993392"/>
            <a:ext cx="3749039" cy="9144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2157984"/>
            <a:ext cx="411480" cy="411480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21579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8887" y="2176272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6FA4"/>
                </a:solidFill>
                <a:latin typeface="Calibri"/>
              </a:rPr>
              <a:t>Value-Add
Exports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2862072"/>
            <a:ext cx="3474719" cy="1828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1" y="3090672"/>
            <a:ext cx="109728" cy="1097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1" y="2999232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Process tobacco &amp; cotton locally before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5111" y="3749040"/>
            <a:ext cx="109728" cy="1097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1" y="3657600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Mill maize into flour for regional markets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5111" y="4407408"/>
            <a:ext cx="109728" cy="1097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07991" y="4315968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Capture more USD per unit exported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1" y="5065776"/>
            <a:ext cx="109728" cy="109728"/>
          </a:xfrm>
          <a:prstGeom prst="rect">
            <a:avLst/>
          </a:prstGeom>
          <a:solidFill>
            <a:srgbClr val="1D6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1" y="4974336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Move from price-taker to price-setter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18" y="1993392"/>
            <a:ext cx="3749039" cy="40050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18" y="1993392"/>
            <a:ext cx="3749039" cy="9144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8" y="2157984"/>
            <a:ext cx="411480" cy="4114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78" y="21579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6" y="2176272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C653"/>
                </a:solidFill>
                <a:latin typeface="Calibri"/>
              </a:rPr>
              <a:t>Import
Substitution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8" y="2862072"/>
            <a:ext cx="3474719" cy="1828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11310" y="3090672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4190" y="2999232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Develop local capacity for top import categories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11310" y="3749040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0" y="3657600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Reduce USD outflow on petroleum &amp; minerals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11310" y="4407408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0" y="4315968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Industrial policy targeting import-heavy sectors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11310" y="5065776"/>
            <a:ext cx="109728" cy="10972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94190" y="4974336"/>
            <a:ext cx="32461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  <a:latin typeface="Calibri"/>
              </a:rPr>
              <a:t>Regional trade agreements in local currencies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99632"/>
            <a:ext cx="12188952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28192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0A8B8"/>
                </a:solidFill>
                <a:latin typeface="Calibri"/>
              </a:rPr>
              <a:t>Data: Zambia Agriculture Import-Export Dashboard 2013–2022  |  FSIO Cohort Analysis  |  May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0A8B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